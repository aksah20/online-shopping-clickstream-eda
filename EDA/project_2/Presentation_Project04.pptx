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154d1e3-706b-d744-d351-6b2f6464e18a}">
          <p14:sldIdLst>
            <p14:sldId id="256"/>
          </p14:sldIdLst>
        </p14:section>
        <p14:section name="Project" id="{972b11b4-784a-b7b1-5590-ee298653d92f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End" id="{3d7399a3-c16d-a9de-0fda-f08f6524e53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Online Shopping Clickstream &amp; Customer Behavior Analysis using Python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3464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Exploratory Data Analysis (EDA) Project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Anunay Kumar Sah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B.Tech CSE, ITER (Siksha 'O' Anusandhan)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 and Dataset</a:t>
            </a:r>
            <a:endParaRPr lang="en-US" sz="3000" dirty="0"/>
          </a:p>
        </p:txBody>
      </p:sp>
      <p:sp>
        <p:nvSpPr>
          <p:cNvPr id="3" name="Objective text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Objective: understand how users browse an online clothing shop and find patterns in their behaviour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Dataset: UCI Clickstream Data for Online Shopping (e-shop clothing 2008)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165,474 rows (one row = one click) in 24,026 sessions, April to August 2008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There is no purchase column, so I use "highly engaged session" (more than 8 clicks) as a proxy for conversion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Tools: Python, Pandas, NumPy, Matplotlib, Seaborn, Google Colab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Cleaning</a:t>
            </a:r>
            <a:endParaRPr lang="en-US" sz="3000" dirty="0"/>
          </a:p>
        </p:txBody>
      </p:sp>
      <p:sp>
        <p:nvSpPr>
          <p:cNvPr id="3" name="Cleaning text"/>
          <p:cNvSpPr txBox="1"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missing values and no duplicate rows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Checked the click order and country of all 24,026 sessions: no problems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Removed 1 row where the product code did not match its category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Replaced number codes with names (country, category, colour, location)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Made a session table with clicks, pages, average price and more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Kept 17 very long sessions (100+ clicks, longest 195) because I cannot prove they are errors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Categories and Pages</a:t>
            </a:r>
            <a:endParaRPr lang="en-US" sz="3000" dirty="0"/>
          </a:p>
        </p:txBody>
      </p:sp>
      <p:pic>
        <p:nvPicPr>
          <p:cNvPr id="3" name="Clicks per product chart" descr="Clicks per product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433" y="1051560"/>
            <a:ext cx="3726893" cy="2377440"/>
          </a:xfrm>
          <a:prstGeom prst="rect">
            <a:avLst/>
          </a:prstGeom>
        </p:spPr>
      </p:pic>
      <p:pic>
        <p:nvPicPr>
          <p:cNvPr id="4" name="Clicks by page chart" descr="Clicks by page 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364" y="1051560"/>
            <a:ext cx="3625511" cy="2377440"/>
          </a:xfrm>
          <a:prstGeom prst="rect">
            <a:avLst/>
          </a:prstGeom>
        </p:spPr>
      </p:pic>
      <p:sp>
        <p:nvSpPr>
          <p:cNvPr id="5" name="Category text"/>
          <p:cNvSpPr txBox="1"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Trousers get the most clicks (30%)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Skirts and trousers get about 1,160 clicks per product, sale only 473</a:t>
            </a:r>
            <a:endParaRPr lang="en-US" sz="1500" dirty="0"/>
          </a:p>
        </p:txBody>
      </p:sp>
      <p:sp>
        <p:nvSpPr>
          <p:cNvPr id="6" name="Page text"/>
          <p:cNvSpPr txBox="1"/>
          <p:nvPr/>
        </p:nvSpPr>
        <p:spPr>
          <a:xfrm>
            <a:off x="466344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Page 1 gets 56.5% of all clicks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Page 5 gets only 1.7%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Photo Location and Price</a:t>
            </a:r>
            <a:endParaRPr lang="en-US" sz="3000" dirty="0"/>
          </a:p>
        </p:txBody>
      </p:sp>
      <p:pic>
        <p:nvPicPr>
          <p:cNvPr id="3" name="Clicks by location chart" descr="Clicks by location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4" y="1051560"/>
            <a:ext cx="4186131" cy="2377440"/>
          </a:xfrm>
          <a:prstGeom prst="rect">
            <a:avLst/>
          </a:prstGeom>
        </p:spPr>
      </p:pic>
      <p:pic>
        <p:nvPicPr>
          <p:cNvPr id="4" name="Price vs clicks chart" descr="Price vs clicks 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114" y="1051560"/>
            <a:ext cx="3070011" cy="2377440"/>
          </a:xfrm>
          <a:prstGeom prst="rect">
            <a:avLst/>
          </a:prstGeom>
        </p:spPr>
      </p:pic>
      <p:sp>
        <p:nvSpPr>
          <p:cNvPr id="5" name="Location text"/>
          <p:cNvSpPr txBox="1"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Top left (20.9%) and top middle (20.2%) get the most clicks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Bottom right gets the least (12.5%)</a:t>
            </a:r>
            <a:endParaRPr lang="en-US" sz="1500" dirty="0"/>
          </a:p>
        </p:txBody>
      </p:sp>
      <p:sp>
        <p:nvSpPr>
          <p:cNvPr id="6" name="Price text"/>
          <p:cNvSpPr txBox="1"/>
          <p:nvPr/>
        </p:nvSpPr>
        <p:spPr>
          <a:xfrm>
            <a:off x="466344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Expensive products are not clicked less (correlation +0.23)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But expensive items are mostly on early pages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Users and Countries</a:t>
            </a:r>
            <a:endParaRPr lang="en-US" sz="3000" dirty="0"/>
          </a:p>
        </p:txBody>
      </p:sp>
      <p:pic>
        <p:nvPicPr>
          <p:cNvPr id="3" name="Drop-off chart" descr="Drop-off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846320" cy="2664526"/>
          </a:xfrm>
          <a:prstGeom prst="rect">
            <a:avLst/>
          </a:prstGeom>
        </p:spPr>
      </p:pic>
      <p:sp>
        <p:nvSpPr>
          <p:cNvPr id="4" name="Users text"/>
          <p:cNvSpPr txBox="1"/>
          <p:nvPr/>
        </p:nvSpPr>
        <p:spPr>
          <a:xfrm>
            <a:off x="5394960" y="118872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21% of sessions have only 1 click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Only 46% of sessions reach the 5th click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Poland gives 81.5% of sessions, Czech Republic 9.4%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.net sessions look unusual: 53% have only 1 click (maybe robots)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Engaged Sessions (Proxy for Conversion)</a:t>
            </a:r>
            <a:endParaRPr lang="en-US" sz="3000" dirty="0"/>
          </a:p>
        </p:txBody>
      </p:sp>
      <p:pic>
        <p:nvPicPr>
          <p:cNvPr id="3" name="Engagement by country chart" descr="Engagement by country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572000" cy="2823764"/>
          </a:xfrm>
          <a:prstGeom prst="rect">
            <a:avLst/>
          </a:prstGeom>
        </p:spPr>
      </p:pic>
      <p:sp>
        <p:nvSpPr>
          <p:cNvPr id="4" name="Engagement text"/>
          <p:cNvSpPr txBox="1"/>
          <p:nvPr/>
        </p:nvSpPr>
        <p:spPr>
          <a:xfrm>
            <a:off x="5120640" y="1188720"/>
            <a:ext cx="36576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24.8% of sessions are highly engaged (more than 8 clicks)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They visit 2.8 categories, other sessions only 1.5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Czech Republic has the highest share (28.9%), .net the lowest (10.6%)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Sessions that start with trousers or sale are the most engaged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Recommendations and Conclusion</a:t>
            </a:r>
            <a:endParaRPr lang="en-US" sz="3000" dirty="0"/>
          </a:p>
        </p:txBody>
      </p:sp>
      <p:sp>
        <p:nvSpPr>
          <p:cNvPr id="3" name="Recommendations"/>
          <p:cNvSpPr txBox="1"/>
          <p:nvPr/>
        </p:nvSpPr>
        <p:spPr>
          <a:xfrm>
            <a:off x="457200" y="1097280"/>
            <a:ext cx="8229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Put the products to sell on page 1, top left and top middle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Help users go on after the first click (related items, filters)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Recommend products from other categories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Show fewer, better sale items higher up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Target the Czech Republic and Lithuania, and record purchases to measure real conversion</a:t>
            </a:r>
            <a:endParaRPr lang="en-US" sz="1800" dirty="0"/>
          </a:p>
        </p:txBody>
      </p:sp>
      <p:sp>
        <p:nvSpPr>
          <p:cNvPr id="4" name="Limitations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Limitations: no purchase data, one shop, April to August 2008, 81% of traffic from Poland.</a:t>
            </a:r>
            <a:endParaRPr lang="en-US" sz="1400" dirty="0"/>
          </a:p>
        </p:txBody>
      </p:sp>
      <p:sp>
        <p:nvSpPr>
          <p:cNvPr id="5" name="Thank you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Thank You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ent Blue 4">
  <a:themeElements>
    <a:clrScheme name="Student Blue 4">
      <a:dk1>
        <a:srgbClr val="000000"/>
      </a:dk1>
      <a:lt1>
        <a:srgbClr val="FFFFFF"/>
      </a:lt1>
      <a:dk2>
        <a:srgbClr val="1F3864"/>
      </a:dk2>
      <a:lt2>
        <a:srgbClr val="EEF3FA"/>
      </a:lt2>
      <a:accent1>
        <a:srgbClr val="2E75B6"/>
      </a:accent1>
      <a:accent2>
        <a:srgbClr val="ED7D31"/>
      </a:accent2>
      <a:accent3>
        <a:srgbClr val="A5A5A5"/>
      </a:accent3>
      <a:accent4>
        <a:srgbClr val="FFC000"/>
      </a:accent4>
      <a:accent5>
        <a:srgbClr val="70AD47"/>
      </a:accent5>
      <a:accent6>
        <a:srgbClr val="5B9BD5"/>
      </a:accent6>
      <a:hlink>
        <a:srgbClr val="2E75B6"/>
      </a:hlink>
      <a:folHlink>
        <a:srgbClr val="7F7F7F"/>
      </a:folHlink>
    </a:clrScheme>
    <a:fontScheme name="Student Blue 4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Shopping Clickstream &amp; Customer Behavior Analysis using Python</dc:title>
  <dc:subject>PptxGenJS Presentation</dc:subject>
  <dc:creator>Anunay Kumar Sah</dc:creator>
  <cp:lastModifiedBy>Anunay Kumar Sah</cp:lastModifiedBy>
  <cp:revision>1</cp:revision>
  <dcterms:created xsi:type="dcterms:W3CDTF">2026-10-17T13:27:40Z</dcterms:created>
  <dcterms:modified xsi:type="dcterms:W3CDTF">2026-10-17T13:27:40Z</dcterms:modified>
</cp:coreProperties>
</file>